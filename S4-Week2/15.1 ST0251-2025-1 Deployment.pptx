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7" r:id="rId17"/>
  </p:sldIdLst>
  <p:sldSz cx="12192000" cy="6858000"/>
  <p:notesSz cx="6858000" cy="9144000"/>
  <p:embeddedFontLst>
    <p:embeddedFont>
      <p:font typeface="Georgia" panose="02040502050405020303" pitchFamily="18" charset="0"/>
      <p:regular r:id="rId19"/>
      <p:bold r:id="rId20"/>
      <p:italic r:id="rId21"/>
      <p:boldItalic r:id="rId22"/>
    </p:embeddedFont>
    <p:embeddedFont>
      <p:font typeface="Short Stack" panose="020B0604020202020204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7uiyEpuP1n7zuLfYGWhyRidRp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352092-AED9-B1C4-3AB4-81E1A9458DB7}" v="18" dt="2025-05-06T18:16:49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42" y="1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ola Andrea Vallejo Correa" userId="S::pvallej3@eafit.edu.co::5ea7bf39-b2d3-4164-ba6a-185e6412f404" providerId="AD" clId="Web-{6C352092-AED9-B1C4-3AB4-81E1A9458DB7}"/>
    <pc:docChg chg="modSld">
      <pc:chgData name="Paola Andrea Vallejo Correa" userId="S::pvallej3@eafit.edu.co::5ea7bf39-b2d3-4164-ba6a-185e6412f404" providerId="AD" clId="Web-{6C352092-AED9-B1C4-3AB4-81E1A9458DB7}" dt="2025-05-06T18:16:49.071" v="16" actId="1076"/>
      <pc:docMkLst>
        <pc:docMk/>
      </pc:docMkLst>
      <pc:sldChg chg="modSp">
        <pc:chgData name="Paola Andrea Vallejo Correa" userId="S::pvallej3@eafit.edu.co::5ea7bf39-b2d3-4164-ba6a-185e6412f404" providerId="AD" clId="Web-{6C352092-AED9-B1C4-3AB4-81E1A9458DB7}" dt="2025-05-06T18:16:49.071" v="16" actId="1076"/>
        <pc:sldMkLst>
          <pc:docMk/>
          <pc:sldMk cId="0" sldId="267"/>
        </pc:sldMkLst>
        <pc:spChg chg="mod">
          <ac:chgData name="Paola Andrea Vallejo Correa" userId="S::pvallej3@eafit.edu.co::5ea7bf39-b2d3-4164-ba6a-185e6412f404" providerId="AD" clId="Web-{6C352092-AED9-B1C4-3AB4-81E1A9458DB7}" dt="2025-05-06T18:16:49.071" v="16" actId="1076"/>
          <ac:spMkLst>
            <pc:docMk/>
            <pc:sldMk cId="0" sldId="267"/>
            <ac:spMk id="222" creationId="{00000000-0000-0000-0000-000000000000}"/>
          </ac:spMkLst>
        </pc:spChg>
      </pc:sldChg>
      <pc:sldChg chg="modSp">
        <pc:chgData name="Paola Andrea Vallejo Correa" userId="S::pvallej3@eafit.edu.co::5ea7bf39-b2d3-4164-ba6a-185e6412f404" providerId="AD" clId="Web-{6C352092-AED9-B1C4-3AB4-81E1A9458DB7}" dt="2025-05-06T18:16:23.679" v="14" actId="20577"/>
        <pc:sldMkLst>
          <pc:docMk/>
          <pc:sldMk cId="3333600853" sldId="268"/>
        </pc:sldMkLst>
        <pc:spChg chg="mod">
          <ac:chgData name="Paola Andrea Vallejo Correa" userId="S::pvallej3@eafit.edu.co::5ea7bf39-b2d3-4164-ba6a-185e6412f404" providerId="AD" clId="Web-{6C352092-AED9-B1C4-3AB4-81E1A9458DB7}" dt="2025-05-06T18:16:23.679" v="14" actId="20577"/>
          <ac:spMkLst>
            <pc:docMk/>
            <pc:sldMk cId="3333600853" sldId="268"/>
            <ac:spMk id="7" creationId="{F266B851-44BC-4E75-A0B1-85F78396DC1D}"/>
          </ac:spMkLst>
        </pc:spChg>
        <pc:spChg chg="mod">
          <ac:chgData name="Paola Andrea Vallejo Correa" userId="S::pvallej3@eafit.edu.co::5ea7bf39-b2d3-4164-ba6a-185e6412f404" providerId="AD" clId="Web-{6C352092-AED9-B1C4-3AB4-81E1A9458DB7}" dt="2025-05-06T18:15:13.190" v="0" actId="20577"/>
          <ac:spMkLst>
            <pc:docMk/>
            <pc:sldMk cId="3333600853" sldId="268"/>
            <ac:spMk id="2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xceltic.com/noticia?id=que-es-devops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kinsta.com/es/blog/herramientas-devops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kinsta.com/es/blog/herramientas-devops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f8b8a7253f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gf8b8a7253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a0395a7b3a_1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https://medium.com/@dilshanramesh81/data-persistence-add16cb74cf3</a:t>
            </a:r>
            <a:endParaRPr/>
          </a:p>
        </p:txBody>
      </p:sp>
      <p:sp>
        <p:nvSpPr>
          <p:cNvPr id="125" name="Google Shape;125;ga0395a7b3a_1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f8b8a7253f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f8b8a7253f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f8b8a7253f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https://medium.com/@dilshanramesh81/data-persistence-add16cb74cf3</a:t>
            </a:r>
            <a:endParaRPr/>
          </a:p>
        </p:txBody>
      </p:sp>
      <p:sp>
        <p:nvSpPr>
          <p:cNvPr id="151" name="Google Shape;151;gf8b8a7253f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a0395a7b3a_1_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OLTP: </a:t>
            </a:r>
            <a:r>
              <a:rPr lang="es-MX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Online transaction processing</a:t>
            </a:r>
            <a:endParaRPr/>
          </a:p>
        </p:txBody>
      </p:sp>
      <p:sp>
        <p:nvSpPr>
          <p:cNvPr id="163" name="Google Shape;163;ga0395a7b3a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f8b8a7253f_0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gf8b8a7253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f8b8a7253f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f8b8a7253f_0_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Fuente: </a:t>
            </a:r>
            <a:r>
              <a:rPr lang="es-MX" u="sng">
                <a:solidFill>
                  <a:schemeClr val="hlink"/>
                </a:solidFill>
                <a:hlinkClick r:id="rId3"/>
              </a:rPr>
              <a:t>https://exceltic.com/noticia?id=que-es-devops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f8b8a7253f_0_1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f8b8a7253f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 u="sng">
                <a:solidFill>
                  <a:schemeClr val="hlink"/>
                </a:solidFill>
                <a:hlinkClick r:id="rId3"/>
              </a:rPr>
              <a:t>https://kinsta.com/es/blog/herramientas-devops/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f8b8a7253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8b8a7253f_0_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 u="sng">
                <a:solidFill>
                  <a:schemeClr val="hlink"/>
                </a:solidFill>
                <a:hlinkClick r:id="rId3"/>
              </a:rPr>
              <a:t>https://kinsta.com/es/blog/herramientas-devops/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gf8b8a7253f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8b8a7253f_0_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10" name="Google Shape;210;gf8b8a7253f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582950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f8b8a7253f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f8b8a7253f_0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gf8b8a7253f_0_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8"/>
          <p:cNvSpPr txBox="1"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5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5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0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0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6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2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2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62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2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62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6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5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6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6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6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6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6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6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6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8"/>
          <p:cNvSpPr txBox="1">
            <a:spLocks noGrp="1"/>
          </p:cNvSpPr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68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6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‹N°›</a:t>
            </a:fld>
            <a:endParaRPr/>
          </a:p>
        </p:txBody>
      </p:sp>
      <p:pic>
        <p:nvPicPr>
          <p:cNvPr id="15" name="Google Shape;15;p5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066337" y="330582"/>
            <a:ext cx="1438275" cy="8572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1106550" y="2851663"/>
            <a:ext cx="103632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s-MX" sz="3500" b="1"/>
              <a:t>Software Deployment</a:t>
            </a:r>
            <a:endParaRPr sz="38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None/>
            </a:pPr>
            <a:endParaRPr sz="3600" b="1">
              <a:latin typeface="Short Stack"/>
              <a:ea typeface="Short Stack"/>
              <a:cs typeface="Short Stack"/>
              <a:sym typeface="Short Stack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0000"/>
              <a:buFont typeface="Arial"/>
              <a:buNone/>
            </a:pPr>
            <a:r>
              <a:rPr lang="es-MX" sz="2000" b="1">
                <a:latin typeface="Arial"/>
                <a:ea typeface="Arial"/>
                <a:cs typeface="Arial"/>
                <a:sym typeface="Arial"/>
              </a:rPr>
              <a:t>By</a:t>
            </a:r>
            <a:endParaRPr sz="20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0000"/>
              <a:buFont typeface="Arial"/>
              <a:buNone/>
            </a:pPr>
            <a:r>
              <a:rPr lang="es-MX" sz="2000" b="1">
                <a:latin typeface="Arial"/>
                <a:ea typeface="Arial"/>
                <a:cs typeface="Arial"/>
                <a:sym typeface="Arial"/>
              </a:rPr>
              <a:t>Raúl Mazo</a:t>
            </a:r>
            <a:endParaRPr sz="20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0000"/>
              <a:buFont typeface="Arial"/>
              <a:buNone/>
            </a:pPr>
            <a:r>
              <a:rPr lang="es-MX" sz="2000" b="1">
                <a:latin typeface="Arial"/>
                <a:ea typeface="Arial"/>
                <a:cs typeface="Arial"/>
                <a:sym typeface="Arial"/>
              </a:rPr>
              <a:t>Paola Vallejo</a:t>
            </a:r>
            <a:endParaRPr sz="20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None/>
            </a:pPr>
            <a:endParaRPr sz="3600" b="1">
              <a:latin typeface="Short Stack"/>
              <a:ea typeface="Short Stack"/>
              <a:cs typeface="Short Stack"/>
              <a:sym typeface="Short Stack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f8b8a7253f_0_20"/>
          <p:cNvSpPr txBox="1">
            <a:spLocks noGrp="1"/>
          </p:cNvSpPr>
          <p:nvPr>
            <p:ph type="title"/>
          </p:nvPr>
        </p:nvSpPr>
        <p:spPr>
          <a:xfrm>
            <a:off x="838200" y="-1587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Systems Development Life Cycle (SDLC)</a:t>
            </a:r>
            <a:endParaRPr/>
          </a:p>
        </p:txBody>
      </p:sp>
      <p:grpSp>
        <p:nvGrpSpPr>
          <p:cNvPr id="95" name="Google Shape;95;gf8b8a7253f_0_20"/>
          <p:cNvGrpSpPr/>
          <p:nvPr/>
        </p:nvGrpSpPr>
        <p:grpSpPr>
          <a:xfrm>
            <a:off x="1079105" y="3056884"/>
            <a:ext cx="9881831" cy="2168972"/>
            <a:chOff x="0" y="1170922"/>
            <a:chExt cx="6686400" cy="2168972"/>
          </a:xfrm>
        </p:grpSpPr>
        <p:sp>
          <p:nvSpPr>
            <p:cNvPr id="96" name="Google Shape;96;gf8b8a7253f_0_20"/>
            <p:cNvSpPr/>
            <p:nvPr/>
          </p:nvSpPr>
          <p:spPr>
            <a:xfrm>
              <a:off x="0" y="1170922"/>
              <a:ext cx="6686400" cy="10629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f8b8a7253f_0_20"/>
            <p:cNvSpPr/>
            <p:nvPr/>
          </p:nvSpPr>
          <p:spPr>
            <a:xfrm>
              <a:off x="0" y="2276994"/>
              <a:ext cx="6686400" cy="10629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gf8b8a7253f_0_2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08/10/2020</a:t>
            </a:r>
            <a:endParaRPr/>
          </a:p>
        </p:txBody>
      </p:sp>
      <p:sp>
        <p:nvSpPr>
          <p:cNvPr id="99" name="Google Shape;99;gf8b8a7253f_0_2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Proyecto Integrador 1</a:t>
            </a:r>
            <a:endParaRPr/>
          </a:p>
        </p:txBody>
      </p:sp>
      <p:sp>
        <p:nvSpPr>
          <p:cNvPr id="100" name="Google Shape;100;gf8b8a7253f_0_2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MX"/>
              <a:t>2</a:t>
            </a:fld>
            <a:endParaRPr/>
          </a:p>
        </p:txBody>
      </p:sp>
      <p:pic>
        <p:nvPicPr>
          <p:cNvPr id="101" name="Google Shape;101;gf8b8a7253f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6850" y="1023950"/>
            <a:ext cx="6660050" cy="472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f8b8a7253f_0_20"/>
          <p:cNvSpPr/>
          <p:nvPr/>
        </p:nvSpPr>
        <p:spPr>
          <a:xfrm>
            <a:off x="5782425" y="1351850"/>
            <a:ext cx="878400" cy="868500"/>
          </a:xfrm>
          <a:prstGeom prst="ellipse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f8b8a7253f_0_20"/>
          <p:cNvSpPr/>
          <p:nvPr/>
        </p:nvSpPr>
        <p:spPr>
          <a:xfrm>
            <a:off x="7326150" y="1977900"/>
            <a:ext cx="878400" cy="868500"/>
          </a:xfrm>
          <a:prstGeom prst="ellipse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f8b8a7253f_0_20"/>
          <p:cNvSpPr/>
          <p:nvPr/>
        </p:nvSpPr>
        <p:spPr>
          <a:xfrm>
            <a:off x="7488425" y="3514475"/>
            <a:ext cx="878400" cy="868500"/>
          </a:xfrm>
          <a:prstGeom prst="ellipse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f8b8a7253f_0_20"/>
          <p:cNvSpPr/>
          <p:nvPr/>
        </p:nvSpPr>
        <p:spPr>
          <a:xfrm>
            <a:off x="6610025" y="4710150"/>
            <a:ext cx="878400" cy="868500"/>
          </a:xfrm>
          <a:prstGeom prst="ellipse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f8b8a7253f_0_20"/>
          <p:cNvSpPr/>
          <p:nvPr/>
        </p:nvSpPr>
        <p:spPr>
          <a:xfrm>
            <a:off x="4904025" y="4710150"/>
            <a:ext cx="878400" cy="868500"/>
          </a:xfrm>
          <a:prstGeom prst="ellipse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f8b8a7253f_0_20"/>
          <p:cNvSpPr/>
          <p:nvPr/>
        </p:nvSpPr>
        <p:spPr>
          <a:xfrm>
            <a:off x="3978825" y="3465700"/>
            <a:ext cx="878400" cy="868500"/>
          </a:xfrm>
          <a:prstGeom prst="ellipse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f8b8a7253f_0_20"/>
          <p:cNvSpPr/>
          <p:nvPr/>
        </p:nvSpPr>
        <p:spPr>
          <a:xfrm>
            <a:off x="4238700" y="1977900"/>
            <a:ext cx="878400" cy="868500"/>
          </a:xfrm>
          <a:prstGeom prst="ellipse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f8b8a7253f_0_20"/>
          <p:cNvSpPr/>
          <p:nvPr/>
        </p:nvSpPr>
        <p:spPr>
          <a:xfrm>
            <a:off x="4869525" y="4659750"/>
            <a:ext cx="947400" cy="9693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f8b8a7253f_0_20"/>
          <p:cNvSpPr txBox="1"/>
          <p:nvPr/>
        </p:nvSpPr>
        <p:spPr>
          <a:xfrm>
            <a:off x="2538400" y="4797750"/>
            <a:ext cx="1440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Timeline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Delivery date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838200" y="-1587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Software Deployment</a:t>
            </a:r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1079105" y="3056884"/>
            <a:ext cx="9882050" cy="2168943"/>
            <a:chOff x="0" y="1170922"/>
            <a:chExt cx="6686550" cy="2168943"/>
          </a:xfrm>
        </p:grpSpPr>
        <p:sp>
          <p:nvSpPr>
            <p:cNvPr id="117" name="Google Shape;117;p4"/>
            <p:cNvSpPr/>
            <p:nvPr/>
          </p:nvSpPr>
          <p:spPr>
            <a:xfrm>
              <a:off x="0" y="1170922"/>
              <a:ext cx="6686550" cy="1062871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0" y="2276994"/>
              <a:ext cx="6686550" cy="1062871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08/10/2020</a:t>
            </a:r>
            <a:endParaRPr/>
          </a:p>
        </p:txBody>
      </p:sp>
      <p:sp>
        <p:nvSpPr>
          <p:cNvPr id="120" name="Google Shape;120;p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Proyecto Integrador 1</a:t>
            </a:r>
            <a:endParaRPr/>
          </a:p>
        </p:txBody>
      </p:sp>
      <p:sp>
        <p:nvSpPr>
          <p:cNvPr id="121" name="Google Shape;121;p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MX"/>
              <a:t>3</a:t>
            </a:fld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1079100" y="1480725"/>
            <a:ext cx="10014900" cy="41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064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D3133"/>
              </a:buClr>
              <a:buSzPts val="2800"/>
              <a:buChar char="●"/>
            </a:pPr>
            <a:r>
              <a:rPr lang="es-MX" sz="2800">
                <a:solidFill>
                  <a:srgbClr val="2D3133"/>
                </a:solidFill>
                <a:highlight>
                  <a:srgbClr val="FFFFFF"/>
                </a:highlight>
              </a:rPr>
              <a:t>A</a:t>
            </a:r>
            <a:r>
              <a:rPr lang="es-MX" sz="2800" b="0" i="0" u="none" strike="noStrike" cap="none">
                <a:solidFill>
                  <a:srgbClr val="2D31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ll activities that make a software system available for use</a:t>
            </a:r>
            <a:endParaRPr sz="2800" b="0" i="0" u="none" strike="noStrike" cap="none">
              <a:solidFill>
                <a:srgbClr val="2D3133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064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3133"/>
              </a:buClr>
              <a:buSzPts val="2800"/>
              <a:buChar char="●"/>
            </a:pPr>
            <a:r>
              <a:rPr lang="es-MX" sz="2800">
                <a:solidFill>
                  <a:srgbClr val="2D3133"/>
                </a:solidFill>
                <a:highlight>
                  <a:schemeClr val="lt1"/>
                </a:highlight>
              </a:rPr>
              <a:t>Process of coding, testing and fixing bugs to develop a complete application</a:t>
            </a:r>
            <a:endParaRPr sz="2800">
              <a:solidFill>
                <a:srgbClr val="2D3133"/>
              </a:solidFill>
              <a:highlight>
                <a:schemeClr val="lt1"/>
              </a:highlight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a0395a7b3a_1_5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Deployment stages</a:t>
            </a:r>
            <a:endParaRPr/>
          </a:p>
        </p:txBody>
      </p:sp>
      <p:grpSp>
        <p:nvGrpSpPr>
          <p:cNvPr id="128" name="Google Shape;128;ga0395a7b3a_1_59"/>
          <p:cNvGrpSpPr/>
          <p:nvPr/>
        </p:nvGrpSpPr>
        <p:grpSpPr>
          <a:xfrm>
            <a:off x="1079105" y="3056884"/>
            <a:ext cx="9881831" cy="2168972"/>
            <a:chOff x="0" y="1170922"/>
            <a:chExt cx="6686400" cy="2168972"/>
          </a:xfrm>
        </p:grpSpPr>
        <p:sp>
          <p:nvSpPr>
            <p:cNvPr id="129" name="Google Shape;129;ga0395a7b3a_1_59"/>
            <p:cNvSpPr/>
            <p:nvPr/>
          </p:nvSpPr>
          <p:spPr>
            <a:xfrm>
              <a:off x="0" y="1170922"/>
              <a:ext cx="6686400" cy="10629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ga0395a7b3a_1_59"/>
            <p:cNvSpPr/>
            <p:nvPr/>
          </p:nvSpPr>
          <p:spPr>
            <a:xfrm>
              <a:off x="0" y="2276994"/>
              <a:ext cx="6686400" cy="10629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ga0395a7b3a_1_5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08/10/2020</a:t>
            </a:r>
            <a:endParaRPr/>
          </a:p>
        </p:txBody>
      </p:sp>
      <p:sp>
        <p:nvSpPr>
          <p:cNvPr id="132" name="Google Shape;132;ga0395a7b3a_1_5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Proyecto Integrador 1</a:t>
            </a:r>
            <a:endParaRPr/>
          </a:p>
        </p:txBody>
      </p:sp>
      <p:sp>
        <p:nvSpPr>
          <p:cNvPr id="133" name="Google Shape;133;ga0395a7b3a_1_5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MX"/>
              <a:t>4</a:t>
            </a:fld>
            <a:endParaRPr/>
          </a:p>
        </p:txBody>
      </p:sp>
      <p:sp>
        <p:nvSpPr>
          <p:cNvPr id="134" name="Google Shape;134;ga0395a7b3a_1_59"/>
          <p:cNvSpPr txBox="1"/>
          <p:nvPr/>
        </p:nvSpPr>
        <p:spPr>
          <a:xfrm>
            <a:off x="1079100" y="1507800"/>
            <a:ext cx="10014900" cy="38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7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500"/>
              <a:buChar char="●"/>
            </a:pPr>
            <a:r>
              <a:rPr lang="es-MX" sz="2500" b="1">
                <a:solidFill>
                  <a:srgbClr val="292929"/>
                </a:solidFill>
                <a:highlight>
                  <a:srgbClr val="FFFFFF"/>
                </a:highlight>
              </a:rPr>
              <a:t>Development and deployment:</a:t>
            </a:r>
            <a:r>
              <a:rPr lang="es-MX" sz="2500">
                <a:solidFill>
                  <a:srgbClr val="292929"/>
                </a:solidFill>
                <a:highlight>
                  <a:srgbClr val="FFFFFF"/>
                </a:highlight>
              </a:rPr>
              <a:t> deployment method and configuration metrics</a:t>
            </a:r>
            <a:endParaRPr sz="25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45720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457200" marR="0" lvl="0" indent="-387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500"/>
              <a:buChar char="●"/>
            </a:pPr>
            <a:r>
              <a:rPr lang="es-MX" sz="2500" b="1">
                <a:solidFill>
                  <a:srgbClr val="292929"/>
                </a:solidFill>
                <a:highlight>
                  <a:srgbClr val="FFFFFF"/>
                </a:highlight>
              </a:rPr>
              <a:t>Testing</a:t>
            </a:r>
            <a:endParaRPr sz="2500" b="1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45720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457200" marR="0" lvl="0" indent="-387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500"/>
              <a:buChar char="●"/>
            </a:pPr>
            <a:r>
              <a:rPr lang="es-MX" sz="2500" b="1">
                <a:solidFill>
                  <a:srgbClr val="292929"/>
                </a:solidFill>
                <a:highlight>
                  <a:srgbClr val="FFFFFF"/>
                </a:highlight>
              </a:rPr>
              <a:t>Monitoring: </a:t>
            </a:r>
            <a:r>
              <a:rPr lang="es-MX" sz="2500">
                <a:solidFill>
                  <a:srgbClr val="292929"/>
                </a:solidFill>
                <a:highlight>
                  <a:srgbClr val="FFFFFF"/>
                </a:highlight>
              </a:rPr>
              <a:t>continuity of </a:t>
            </a:r>
            <a:endParaRPr sz="25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45720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500">
                <a:solidFill>
                  <a:srgbClr val="292929"/>
                </a:solidFill>
                <a:highlight>
                  <a:srgbClr val="FFFFFF"/>
                </a:highlight>
              </a:rPr>
              <a:t>deployment actions</a:t>
            </a:r>
            <a:endParaRPr sz="25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45720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45720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5" name="Google Shape;135;ga0395a7b3a_1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9075" y="2057650"/>
            <a:ext cx="5592800" cy="369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f8b8a7253f_0_53"/>
          <p:cNvSpPr txBox="1">
            <a:spLocks noGrp="1"/>
          </p:cNvSpPr>
          <p:nvPr>
            <p:ph type="title"/>
          </p:nvPr>
        </p:nvSpPr>
        <p:spPr>
          <a:xfrm>
            <a:off x="838200" y="-1587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Systems Development Life Cycle (SDLC)</a:t>
            </a:r>
            <a:endParaRPr/>
          </a:p>
        </p:txBody>
      </p:sp>
      <p:sp>
        <p:nvSpPr>
          <p:cNvPr id="141" name="Google Shape;141;gf8b8a7253f_0_53"/>
          <p:cNvSpPr/>
          <p:nvPr/>
        </p:nvSpPr>
        <p:spPr>
          <a:xfrm>
            <a:off x="2314150" y="4710150"/>
            <a:ext cx="1440300" cy="636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lt1"/>
              </a:gs>
              <a:gs pos="50000">
                <a:schemeClr val="lt1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f8b8a7253f_0_5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08/10/2020</a:t>
            </a:r>
            <a:endParaRPr/>
          </a:p>
        </p:txBody>
      </p:sp>
      <p:sp>
        <p:nvSpPr>
          <p:cNvPr id="143" name="Google Shape;143;gf8b8a7253f_0_5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Proyecto Integrador 1</a:t>
            </a:r>
            <a:endParaRPr/>
          </a:p>
        </p:txBody>
      </p:sp>
      <p:sp>
        <p:nvSpPr>
          <p:cNvPr id="144" name="Google Shape;144;gf8b8a7253f_0_5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MX"/>
              <a:t>5</a:t>
            </a:fld>
            <a:endParaRPr/>
          </a:p>
        </p:txBody>
      </p:sp>
      <p:pic>
        <p:nvPicPr>
          <p:cNvPr id="145" name="Google Shape;145;gf8b8a7253f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6850" y="1023950"/>
            <a:ext cx="6660050" cy="472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f8b8a7253f_0_53"/>
          <p:cNvSpPr/>
          <p:nvPr/>
        </p:nvSpPr>
        <p:spPr>
          <a:xfrm>
            <a:off x="4904025" y="4710150"/>
            <a:ext cx="878400" cy="868500"/>
          </a:xfrm>
          <a:prstGeom prst="ellipse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f8b8a7253f_0_53"/>
          <p:cNvSpPr/>
          <p:nvPr/>
        </p:nvSpPr>
        <p:spPr>
          <a:xfrm>
            <a:off x="4869525" y="4659750"/>
            <a:ext cx="947400" cy="9693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f8b8a7253f_0_53"/>
          <p:cNvSpPr txBox="1"/>
          <p:nvPr/>
        </p:nvSpPr>
        <p:spPr>
          <a:xfrm>
            <a:off x="2423025" y="5043825"/>
            <a:ext cx="144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Release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f8b8a7253f_0_4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Deployment stages</a:t>
            </a:r>
            <a:endParaRPr/>
          </a:p>
        </p:txBody>
      </p:sp>
      <p:grpSp>
        <p:nvGrpSpPr>
          <p:cNvPr id="154" name="Google Shape;154;gf8b8a7253f_0_41"/>
          <p:cNvGrpSpPr/>
          <p:nvPr/>
        </p:nvGrpSpPr>
        <p:grpSpPr>
          <a:xfrm>
            <a:off x="1079105" y="3056884"/>
            <a:ext cx="9881831" cy="2168972"/>
            <a:chOff x="0" y="1170922"/>
            <a:chExt cx="6686400" cy="2168972"/>
          </a:xfrm>
        </p:grpSpPr>
        <p:sp>
          <p:nvSpPr>
            <p:cNvPr id="155" name="Google Shape;155;gf8b8a7253f_0_41"/>
            <p:cNvSpPr/>
            <p:nvPr/>
          </p:nvSpPr>
          <p:spPr>
            <a:xfrm>
              <a:off x="0" y="1170922"/>
              <a:ext cx="6686400" cy="10629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gf8b8a7253f_0_41"/>
            <p:cNvSpPr/>
            <p:nvPr/>
          </p:nvSpPr>
          <p:spPr>
            <a:xfrm>
              <a:off x="0" y="2276994"/>
              <a:ext cx="6686400" cy="10629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" name="Google Shape;157;gf8b8a7253f_0_4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08/10/2020</a:t>
            </a:r>
            <a:endParaRPr/>
          </a:p>
        </p:txBody>
      </p:sp>
      <p:sp>
        <p:nvSpPr>
          <p:cNvPr id="158" name="Google Shape;158;gf8b8a7253f_0_4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Proyecto Integrador 1</a:t>
            </a:r>
            <a:endParaRPr/>
          </a:p>
        </p:txBody>
      </p:sp>
      <p:sp>
        <p:nvSpPr>
          <p:cNvPr id="159" name="Google Shape;159;gf8b8a7253f_0_4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MX"/>
              <a:t>6</a:t>
            </a:fld>
            <a:endParaRPr/>
          </a:p>
        </p:txBody>
      </p:sp>
      <p:sp>
        <p:nvSpPr>
          <p:cNvPr id="160" name="Google Shape;160;gf8b8a7253f_0_41"/>
          <p:cNvSpPr txBox="1"/>
          <p:nvPr/>
        </p:nvSpPr>
        <p:spPr>
          <a:xfrm>
            <a:off x="1079100" y="1507800"/>
            <a:ext cx="10014900" cy="38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7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500"/>
              <a:buAutoNum type="arabicPeriod"/>
            </a:pPr>
            <a:r>
              <a:rPr lang="es-MX" sz="2500" b="1" dirty="0">
                <a:solidFill>
                  <a:srgbClr val="292929"/>
                </a:solidFill>
                <a:highlight>
                  <a:srgbClr val="FFFFFF"/>
                </a:highlight>
              </a:rPr>
              <a:t>Plan </a:t>
            </a:r>
            <a:r>
              <a:rPr lang="es-MX" sz="2500" b="1" dirty="0" err="1">
                <a:solidFill>
                  <a:srgbClr val="292929"/>
                </a:solidFill>
                <a:highlight>
                  <a:srgbClr val="FFFFFF"/>
                </a:highlight>
              </a:rPr>
              <a:t>release</a:t>
            </a:r>
            <a:r>
              <a:rPr lang="es-MX" sz="2500" b="1" dirty="0">
                <a:solidFill>
                  <a:srgbClr val="292929"/>
                </a:solidFill>
                <a:highlight>
                  <a:srgbClr val="FFFFFF"/>
                </a:highlight>
              </a:rPr>
              <a:t>: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create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a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workflow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that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both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your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team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and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key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stakeholders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can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refer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to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throughout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a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release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(and </a:t>
            </a:r>
            <a:r>
              <a:rPr lang="es-MX" sz="2500" dirty="0" err="1">
                <a:solidFill>
                  <a:srgbClr val="292929"/>
                </a:solidFill>
                <a:highlight>
                  <a:schemeClr val="lt1"/>
                </a:highlight>
              </a:rPr>
              <a:t>throughout</a:t>
            </a:r>
            <a:r>
              <a:rPr lang="es-MX" sz="2500" dirty="0">
                <a:solidFill>
                  <a:srgbClr val="292929"/>
                </a:solidFill>
                <a:highlight>
                  <a:schemeClr val="lt1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chemeClr val="lt1"/>
                </a:highlight>
              </a:rPr>
              <a:t>the</a:t>
            </a:r>
            <a:r>
              <a:rPr lang="es-MX" sz="2500" dirty="0">
                <a:solidFill>
                  <a:srgbClr val="292929"/>
                </a:solidFill>
                <a:highlight>
                  <a:schemeClr val="lt1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chemeClr val="lt1"/>
                </a:highlight>
              </a:rPr>
              <a:t>project</a:t>
            </a:r>
            <a:r>
              <a:rPr lang="es-MX" sz="2500" dirty="0">
                <a:solidFill>
                  <a:srgbClr val="292929"/>
                </a:solidFill>
                <a:highlight>
                  <a:schemeClr val="lt1"/>
                </a:highlight>
              </a:rPr>
              <a:t>)</a:t>
            </a:r>
            <a:endParaRPr sz="2500" dirty="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457200" marR="0" lvl="0" indent="-387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500"/>
              <a:buAutoNum type="arabicPeriod"/>
            </a:pPr>
            <a:r>
              <a:rPr lang="es-MX" sz="2500" b="1" dirty="0" err="1">
                <a:solidFill>
                  <a:srgbClr val="292929"/>
                </a:solidFill>
                <a:highlight>
                  <a:srgbClr val="FFFFFF"/>
                </a:highlight>
              </a:rPr>
              <a:t>Build</a:t>
            </a:r>
            <a:r>
              <a:rPr lang="es-MX" sz="2500" b="1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b="1" dirty="0" err="1">
                <a:solidFill>
                  <a:srgbClr val="292929"/>
                </a:solidFill>
                <a:highlight>
                  <a:srgbClr val="FFFFFF"/>
                </a:highlight>
              </a:rPr>
              <a:t>release</a:t>
            </a:r>
            <a:r>
              <a:rPr lang="es-MX" sz="2500" b="1" dirty="0">
                <a:solidFill>
                  <a:srgbClr val="292929"/>
                </a:solidFill>
                <a:highlight>
                  <a:srgbClr val="FFFFFF"/>
                </a:highlight>
              </a:rPr>
              <a:t>: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develop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the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product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based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on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the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requirements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outlined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in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the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release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plan</a:t>
            </a:r>
            <a:endParaRPr sz="2500" dirty="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457200" marR="0" lvl="0" indent="-387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500"/>
              <a:buAutoNum type="arabicPeriod"/>
            </a:pPr>
            <a:r>
              <a:rPr lang="es-MX" sz="2500" b="1" dirty="0" err="1">
                <a:solidFill>
                  <a:srgbClr val="292929"/>
                </a:solidFill>
                <a:highlight>
                  <a:srgbClr val="FFFFFF"/>
                </a:highlight>
              </a:rPr>
              <a:t>User</a:t>
            </a:r>
            <a:r>
              <a:rPr lang="es-MX" sz="2500" b="1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b="1" dirty="0" err="1">
                <a:solidFill>
                  <a:srgbClr val="292929"/>
                </a:solidFill>
                <a:highlight>
                  <a:srgbClr val="FFFFFF"/>
                </a:highlight>
              </a:rPr>
              <a:t>acceptance</a:t>
            </a:r>
            <a:r>
              <a:rPr lang="es-MX" sz="2500" b="1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b="1" dirty="0" err="1">
                <a:solidFill>
                  <a:srgbClr val="292929"/>
                </a:solidFill>
                <a:highlight>
                  <a:srgbClr val="FFFFFF"/>
                </a:highlight>
              </a:rPr>
              <a:t>testing</a:t>
            </a:r>
            <a:r>
              <a:rPr lang="es-MX" sz="2500" b="1" dirty="0">
                <a:solidFill>
                  <a:srgbClr val="292929"/>
                </a:solidFill>
                <a:highlight>
                  <a:srgbClr val="FFFFFF"/>
                </a:highlight>
              </a:rPr>
              <a:t>: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users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use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the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product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and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give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feedback</a:t>
            </a:r>
            <a:endParaRPr sz="2500" dirty="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457200" marR="0" lvl="0" indent="-387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500"/>
              <a:buAutoNum type="arabicPeriod"/>
            </a:pPr>
            <a:r>
              <a:rPr lang="es-MX" sz="2500" b="1" dirty="0">
                <a:solidFill>
                  <a:srgbClr val="292929"/>
                </a:solidFill>
                <a:highlight>
                  <a:srgbClr val="FFFFFF"/>
                </a:highlight>
              </a:rPr>
              <a:t>Prepare </a:t>
            </a:r>
            <a:r>
              <a:rPr lang="es-MX" sz="2500" b="1" dirty="0" err="1">
                <a:solidFill>
                  <a:srgbClr val="292929"/>
                </a:solidFill>
                <a:highlight>
                  <a:srgbClr val="FFFFFF"/>
                </a:highlight>
              </a:rPr>
              <a:t>release</a:t>
            </a:r>
            <a:r>
              <a:rPr lang="es-MX" sz="2500" b="1" dirty="0">
                <a:solidFill>
                  <a:srgbClr val="292929"/>
                </a:solidFill>
                <a:highlight>
                  <a:srgbClr val="FFFFFF"/>
                </a:highlight>
              </a:rPr>
              <a:t>: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review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by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the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QA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team</a:t>
            </a:r>
            <a:endParaRPr sz="2500" dirty="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457200" marR="0" lvl="0" indent="-387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500"/>
              <a:buAutoNum type="arabicPeriod"/>
            </a:pPr>
            <a:r>
              <a:rPr lang="es-MX" sz="2500" b="1" dirty="0" err="1">
                <a:solidFill>
                  <a:srgbClr val="292929"/>
                </a:solidFill>
                <a:highlight>
                  <a:srgbClr val="FFFFFF"/>
                </a:highlight>
              </a:rPr>
              <a:t>Deploy</a:t>
            </a:r>
            <a:r>
              <a:rPr lang="es-MX" sz="2500" b="1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b="1" dirty="0" err="1">
                <a:solidFill>
                  <a:srgbClr val="292929"/>
                </a:solidFill>
                <a:highlight>
                  <a:srgbClr val="FFFFFF"/>
                </a:highlight>
              </a:rPr>
              <a:t>release</a:t>
            </a:r>
            <a:r>
              <a:rPr lang="es-MX" sz="2500" b="1" dirty="0">
                <a:solidFill>
                  <a:srgbClr val="292929"/>
                </a:solidFill>
                <a:highlight>
                  <a:srgbClr val="FFFFFF"/>
                </a:highlight>
              </a:rPr>
              <a:t>: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release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the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product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into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the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live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production</a:t>
            </a:r>
            <a:r>
              <a:rPr lang="es-MX" sz="2500" dirty="0">
                <a:solidFill>
                  <a:srgbClr val="292929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92929"/>
                </a:solidFill>
                <a:highlight>
                  <a:srgbClr val="FFFFFF"/>
                </a:highlight>
              </a:rPr>
              <a:t>environment</a:t>
            </a:r>
            <a:endParaRPr sz="2500" dirty="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45720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45720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a0395a7b3a_1_77"/>
          <p:cNvSpPr txBox="1">
            <a:spLocks noGrp="1"/>
          </p:cNvSpPr>
          <p:nvPr>
            <p:ph type="title"/>
          </p:nvPr>
        </p:nvSpPr>
        <p:spPr>
          <a:xfrm>
            <a:off x="838200" y="-15239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Best deployment practices</a:t>
            </a:r>
            <a:endParaRPr/>
          </a:p>
        </p:txBody>
      </p:sp>
      <p:grpSp>
        <p:nvGrpSpPr>
          <p:cNvPr id="166" name="Google Shape;166;ga0395a7b3a_1_77"/>
          <p:cNvGrpSpPr/>
          <p:nvPr/>
        </p:nvGrpSpPr>
        <p:grpSpPr>
          <a:xfrm>
            <a:off x="1079105" y="3056884"/>
            <a:ext cx="9881831" cy="2168972"/>
            <a:chOff x="0" y="1170922"/>
            <a:chExt cx="6686400" cy="2168972"/>
          </a:xfrm>
        </p:grpSpPr>
        <p:sp>
          <p:nvSpPr>
            <p:cNvPr id="167" name="Google Shape;167;ga0395a7b3a_1_77"/>
            <p:cNvSpPr/>
            <p:nvPr/>
          </p:nvSpPr>
          <p:spPr>
            <a:xfrm>
              <a:off x="0" y="1170922"/>
              <a:ext cx="6686400" cy="10629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ga0395a7b3a_1_77"/>
            <p:cNvSpPr/>
            <p:nvPr/>
          </p:nvSpPr>
          <p:spPr>
            <a:xfrm>
              <a:off x="0" y="2276994"/>
              <a:ext cx="6686400" cy="10629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" name="Google Shape;169;ga0395a7b3a_1_7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08/10/2020</a:t>
            </a:r>
            <a:endParaRPr/>
          </a:p>
        </p:txBody>
      </p:sp>
      <p:sp>
        <p:nvSpPr>
          <p:cNvPr id="170" name="Google Shape;170;ga0395a7b3a_1_7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Proyecto Integrador 1</a:t>
            </a:r>
            <a:endParaRPr/>
          </a:p>
        </p:txBody>
      </p:sp>
      <p:sp>
        <p:nvSpPr>
          <p:cNvPr id="171" name="Google Shape;171;ga0395a7b3a_1_7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MX"/>
              <a:t>7</a:t>
            </a:fld>
            <a:endParaRPr/>
          </a:p>
        </p:txBody>
      </p:sp>
      <p:sp>
        <p:nvSpPr>
          <p:cNvPr id="172" name="Google Shape;172;ga0395a7b3a_1_77"/>
          <p:cNvSpPr txBox="1"/>
          <p:nvPr/>
        </p:nvSpPr>
        <p:spPr>
          <a:xfrm>
            <a:off x="838200" y="812250"/>
            <a:ext cx="10265400" cy="47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7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3133"/>
              </a:buClr>
              <a:buSzPts val="2500"/>
              <a:buChar char="●"/>
            </a:pPr>
            <a:r>
              <a:rPr lang="es-MX" sz="2500" b="1" dirty="0" err="1">
                <a:solidFill>
                  <a:srgbClr val="2D3133"/>
                </a:solidFill>
                <a:highlight>
                  <a:srgbClr val="FFFFFF"/>
                </a:highlight>
              </a:rPr>
              <a:t>Implement</a:t>
            </a:r>
            <a:r>
              <a:rPr lang="es-MX" sz="2500" b="1" dirty="0">
                <a:solidFill>
                  <a:srgbClr val="2D3133"/>
                </a:solidFill>
                <a:highlight>
                  <a:srgbClr val="FFFFFF"/>
                </a:highlight>
              </a:rPr>
              <a:t> a </a:t>
            </a:r>
            <a:r>
              <a:rPr lang="es-MX" sz="2500" b="1" dirty="0" err="1">
                <a:solidFill>
                  <a:srgbClr val="2D3133"/>
                </a:solidFill>
                <a:highlight>
                  <a:srgbClr val="FFFFFF"/>
                </a:highlight>
              </a:rPr>
              <a:t>deployment</a:t>
            </a:r>
            <a:r>
              <a:rPr lang="es-MX" sz="2500" b="1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b="1" dirty="0" err="1">
                <a:solidFill>
                  <a:srgbClr val="2D3133"/>
                </a:solidFill>
                <a:highlight>
                  <a:srgbClr val="FFFFFF"/>
                </a:highlight>
              </a:rPr>
              <a:t>checklist</a:t>
            </a:r>
            <a:r>
              <a:rPr lang="es-MX" sz="2500" b="1" dirty="0">
                <a:solidFill>
                  <a:srgbClr val="2D3133"/>
                </a:solidFill>
                <a:highlight>
                  <a:srgbClr val="FFFFFF"/>
                </a:highlight>
              </a:rPr>
              <a:t>: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It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helps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you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to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follow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what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must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be done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next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so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that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you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will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not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miss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out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any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of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the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crucial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steps</a:t>
            </a:r>
            <a:endParaRPr sz="2500" dirty="0">
              <a:solidFill>
                <a:srgbClr val="2D3133"/>
              </a:solidFill>
              <a:highlight>
                <a:srgbClr val="FFFFFF"/>
              </a:highlight>
            </a:endParaRPr>
          </a:p>
          <a:p>
            <a:pPr marL="457200" marR="0" lvl="0" indent="-387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3133"/>
              </a:buClr>
              <a:buSzPts val="2500"/>
              <a:buChar char="●"/>
            </a:pPr>
            <a:r>
              <a:rPr lang="es-MX" sz="2500" b="1" dirty="0" err="1">
                <a:solidFill>
                  <a:srgbClr val="2D3133"/>
                </a:solidFill>
                <a:highlight>
                  <a:srgbClr val="FFFFFF"/>
                </a:highlight>
              </a:rPr>
              <a:t>Choose</a:t>
            </a:r>
            <a:r>
              <a:rPr lang="es-MX" sz="2500" b="1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b="1" dirty="0" err="1">
                <a:solidFill>
                  <a:srgbClr val="2D3133"/>
                </a:solidFill>
                <a:highlight>
                  <a:srgbClr val="FFFFFF"/>
                </a:highlight>
              </a:rPr>
              <a:t>the</a:t>
            </a:r>
            <a:r>
              <a:rPr lang="es-MX" sz="2500" b="1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b="1" dirty="0" err="1">
                <a:solidFill>
                  <a:srgbClr val="2D3133"/>
                </a:solidFill>
                <a:highlight>
                  <a:srgbClr val="FFFFFF"/>
                </a:highlight>
              </a:rPr>
              <a:t>right</a:t>
            </a:r>
            <a:r>
              <a:rPr lang="es-MX" sz="2500" b="1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b="1" dirty="0" err="1">
                <a:solidFill>
                  <a:srgbClr val="2D3133"/>
                </a:solidFill>
                <a:highlight>
                  <a:srgbClr val="FFFFFF"/>
                </a:highlight>
              </a:rPr>
              <a:t>deployment</a:t>
            </a:r>
            <a:r>
              <a:rPr lang="es-MX" sz="2500" b="1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b="1" dirty="0" err="1">
                <a:solidFill>
                  <a:srgbClr val="2D3133"/>
                </a:solidFill>
                <a:highlight>
                  <a:srgbClr val="FFFFFF"/>
                </a:highlight>
              </a:rPr>
              <a:t>method</a:t>
            </a:r>
            <a:r>
              <a:rPr lang="es-MX" sz="2500" b="1" dirty="0">
                <a:solidFill>
                  <a:srgbClr val="2D3133"/>
                </a:solidFill>
                <a:highlight>
                  <a:srgbClr val="FFFFFF"/>
                </a:highlight>
              </a:rPr>
              <a:t>: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Implement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the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software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that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is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easy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to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integrate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with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the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existing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local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applications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and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their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tools</a:t>
            </a:r>
            <a:endParaRPr sz="2500" dirty="0">
              <a:solidFill>
                <a:srgbClr val="2D3133"/>
              </a:solidFill>
              <a:highlight>
                <a:srgbClr val="FFFFFF"/>
              </a:highlight>
            </a:endParaRPr>
          </a:p>
          <a:p>
            <a:pPr marL="457200" marR="0" lvl="0" indent="-387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3133"/>
              </a:buClr>
              <a:buSzPts val="2500"/>
              <a:buChar char="●"/>
            </a:pPr>
            <a:r>
              <a:rPr lang="es-MX" sz="2500" b="1" dirty="0" err="1">
                <a:solidFill>
                  <a:srgbClr val="2D3133"/>
                </a:solidFill>
                <a:highlight>
                  <a:srgbClr val="FFFFFF"/>
                </a:highlight>
              </a:rPr>
              <a:t>Automate</a:t>
            </a:r>
            <a:r>
              <a:rPr lang="es-MX" sz="2500" b="1" dirty="0">
                <a:solidFill>
                  <a:srgbClr val="2D3133"/>
                </a:solidFill>
                <a:highlight>
                  <a:srgbClr val="FFFFFF"/>
                </a:highlight>
              </a:rPr>
              <a:t> software </a:t>
            </a:r>
            <a:r>
              <a:rPr lang="es-MX" sz="2500" b="1" dirty="0" err="1">
                <a:solidFill>
                  <a:srgbClr val="2D3133"/>
                </a:solidFill>
                <a:highlight>
                  <a:srgbClr val="FFFFFF"/>
                </a:highlight>
              </a:rPr>
              <a:t>deployment</a:t>
            </a:r>
            <a:r>
              <a:rPr lang="es-MX" sz="2500" b="1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b="1" dirty="0" err="1">
                <a:solidFill>
                  <a:srgbClr val="2D3133"/>
                </a:solidFill>
                <a:highlight>
                  <a:srgbClr val="FFFFFF"/>
                </a:highlight>
              </a:rPr>
              <a:t>process</a:t>
            </a:r>
            <a:r>
              <a:rPr lang="es-MX" sz="2500" b="1" dirty="0">
                <a:solidFill>
                  <a:srgbClr val="2D3133"/>
                </a:solidFill>
                <a:highlight>
                  <a:srgbClr val="FFFFFF"/>
                </a:highlight>
              </a:rPr>
              <a:t>: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It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mitigates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the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possibilities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of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errors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and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increases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the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deployment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speed</a:t>
            </a:r>
            <a:endParaRPr sz="2500" dirty="0">
              <a:solidFill>
                <a:srgbClr val="2D3133"/>
              </a:solidFill>
              <a:highlight>
                <a:srgbClr val="FFFFFF"/>
              </a:highlight>
            </a:endParaRPr>
          </a:p>
          <a:p>
            <a:pPr marL="457200" marR="0" lvl="0" indent="-387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3133"/>
              </a:buClr>
              <a:buSzPts val="2500"/>
              <a:buChar char="●"/>
            </a:pPr>
            <a:r>
              <a:rPr lang="es-MX" sz="2500" b="1" dirty="0" err="1">
                <a:solidFill>
                  <a:srgbClr val="2D3133"/>
                </a:solidFill>
                <a:highlight>
                  <a:srgbClr val="FFFFFF"/>
                </a:highlight>
              </a:rPr>
              <a:t>Adopt</a:t>
            </a:r>
            <a:r>
              <a:rPr lang="es-MX" sz="2500" b="1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b="1" dirty="0" err="1">
                <a:solidFill>
                  <a:srgbClr val="2D3133"/>
                </a:solidFill>
                <a:highlight>
                  <a:srgbClr val="FFFFFF"/>
                </a:highlight>
              </a:rPr>
              <a:t>continuous</a:t>
            </a:r>
            <a:r>
              <a:rPr lang="es-MX" sz="2500" b="1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b="1" dirty="0" err="1">
                <a:solidFill>
                  <a:srgbClr val="2D3133"/>
                </a:solidFill>
                <a:highlight>
                  <a:srgbClr val="FFFFFF"/>
                </a:highlight>
              </a:rPr>
              <a:t>delivery</a:t>
            </a:r>
            <a:r>
              <a:rPr lang="es-MX" sz="2500" b="1" dirty="0">
                <a:solidFill>
                  <a:srgbClr val="2D3133"/>
                </a:solidFill>
                <a:highlight>
                  <a:srgbClr val="FFFFFF"/>
                </a:highlight>
              </a:rPr>
              <a:t>: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It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ensures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to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enable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the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code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for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the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required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deployment</a:t>
            </a:r>
            <a:endParaRPr sz="2500" dirty="0">
              <a:solidFill>
                <a:srgbClr val="2D3133"/>
              </a:solidFill>
              <a:highlight>
                <a:srgbClr val="FFFFFF"/>
              </a:highlight>
            </a:endParaRPr>
          </a:p>
          <a:p>
            <a:pPr marL="457200" marR="0" lvl="0" indent="-387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3133"/>
              </a:buClr>
              <a:buSzPts val="2500"/>
              <a:buChar char="●"/>
            </a:pPr>
            <a:r>
              <a:rPr lang="es-MX" sz="2500" b="1" dirty="0" err="1">
                <a:solidFill>
                  <a:srgbClr val="2D3133"/>
                </a:solidFill>
                <a:highlight>
                  <a:srgbClr val="FFFFFF"/>
                </a:highlight>
              </a:rPr>
              <a:t>Adopt</a:t>
            </a:r>
            <a:r>
              <a:rPr lang="es-MX" sz="2500" b="1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b="1" dirty="0" err="1">
                <a:solidFill>
                  <a:srgbClr val="2D3133"/>
                </a:solidFill>
                <a:highlight>
                  <a:srgbClr val="FFFFFF"/>
                </a:highlight>
              </a:rPr>
              <a:t>continuous</a:t>
            </a:r>
            <a:r>
              <a:rPr lang="es-MX" sz="2500" b="1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b="1" dirty="0" err="1">
                <a:solidFill>
                  <a:srgbClr val="2D3133"/>
                </a:solidFill>
                <a:highlight>
                  <a:srgbClr val="FFFFFF"/>
                </a:highlight>
              </a:rPr>
              <a:t>integration</a:t>
            </a:r>
            <a:r>
              <a:rPr lang="es-MX" sz="2500" b="1" dirty="0">
                <a:solidFill>
                  <a:srgbClr val="2D3133"/>
                </a:solidFill>
                <a:highlight>
                  <a:srgbClr val="FFFFFF"/>
                </a:highlight>
              </a:rPr>
              <a:t>: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It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ensured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that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the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developed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software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works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in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conjunction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with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previously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development</a:t>
            </a:r>
            <a:endParaRPr sz="2500" dirty="0">
              <a:solidFill>
                <a:srgbClr val="2D3133"/>
              </a:solidFill>
              <a:highlight>
                <a:srgbClr val="FFFFFF"/>
              </a:highlight>
            </a:endParaRPr>
          </a:p>
          <a:p>
            <a:pPr marL="457200" marR="0" lvl="0" indent="-387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3133"/>
              </a:buClr>
              <a:buSzPts val="2500"/>
              <a:buChar char="●"/>
            </a:pPr>
            <a:r>
              <a:rPr lang="es-MX" sz="2500" b="1" dirty="0">
                <a:solidFill>
                  <a:srgbClr val="2D3133"/>
                </a:solidFill>
                <a:highlight>
                  <a:srgbClr val="FFFFFF"/>
                </a:highlight>
              </a:rPr>
              <a:t>Use </a:t>
            </a:r>
            <a:r>
              <a:rPr lang="es-MX" sz="2500" b="1" dirty="0" err="1">
                <a:solidFill>
                  <a:srgbClr val="2D3133"/>
                </a:solidFill>
                <a:highlight>
                  <a:srgbClr val="FFFFFF"/>
                </a:highlight>
              </a:rPr>
              <a:t>tools</a:t>
            </a:r>
            <a:r>
              <a:rPr lang="es-MX" sz="2500" b="1" dirty="0">
                <a:solidFill>
                  <a:srgbClr val="2D3133"/>
                </a:solidFill>
                <a:highlight>
                  <a:srgbClr val="FFFFFF"/>
                </a:highlight>
              </a:rPr>
              <a:t>: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It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makes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the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method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of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distributing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software and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updates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as simple as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possible</a:t>
            </a:r>
            <a:endParaRPr sz="2500" dirty="0">
              <a:solidFill>
                <a:srgbClr val="2D313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f8b8a7253f_0_79"/>
          <p:cNvSpPr txBox="1">
            <a:spLocks noGrp="1"/>
          </p:cNvSpPr>
          <p:nvPr>
            <p:ph type="title"/>
          </p:nvPr>
        </p:nvSpPr>
        <p:spPr>
          <a:xfrm>
            <a:off x="838200" y="-1587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Systems Development Life Cycle (SDLC)</a:t>
            </a:r>
            <a:endParaRPr/>
          </a:p>
        </p:txBody>
      </p:sp>
      <p:sp>
        <p:nvSpPr>
          <p:cNvPr id="178" name="Google Shape;178;gf8b8a7253f_0_79"/>
          <p:cNvSpPr/>
          <p:nvPr/>
        </p:nvSpPr>
        <p:spPr>
          <a:xfrm>
            <a:off x="2314150" y="4710150"/>
            <a:ext cx="1440300" cy="636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lt1"/>
              </a:gs>
              <a:gs pos="50000">
                <a:schemeClr val="lt1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f8b8a7253f_0_7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08/10/2020</a:t>
            </a:r>
            <a:endParaRPr/>
          </a:p>
        </p:txBody>
      </p:sp>
      <p:sp>
        <p:nvSpPr>
          <p:cNvPr id="180" name="Google Shape;180;gf8b8a7253f_0_7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Proyecto Integrador 1</a:t>
            </a:r>
            <a:endParaRPr/>
          </a:p>
        </p:txBody>
      </p:sp>
      <p:sp>
        <p:nvSpPr>
          <p:cNvPr id="181" name="Google Shape;181;gf8b8a7253f_0_7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MX"/>
              <a:t>8</a:t>
            </a:fld>
            <a:endParaRPr/>
          </a:p>
        </p:txBody>
      </p:sp>
      <p:pic>
        <p:nvPicPr>
          <p:cNvPr id="182" name="Google Shape;182;gf8b8a7253f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75" y="1067125"/>
            <a:ext cx="6660050" cy="472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f8b8a7253f_0_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2625" y="2308300"/>
            <a:ext cx="3957625" cy="214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4" name="Google Shape;184;gf8b8a7253f_0_79"/>
          <p:cNvCxnSpPr/>
          <p:nvPr/>
        </p:nvCxnSpPr>
        <p:spPr>
          <a:xfrm>
            <a:off x="1401200" y="1559075"/>
            <a:ext cx="3522900" cy="41643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5" name="Google Shape;185;gf8b8a7253f_0_79"/>
          <p:cNvSpPr txBox="1"/>
          <p:nvPr/>
        </p:nvSpPr>
        <p:spPr>
          <a:xfrm>
            <a:off x="3128025" y="2931725"/>
            <a:ext cx="19143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endParaRPr sz="2400" b="1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f8b8a7253f_0_79"/>
          <p:cNvSpPr txBox="1"/>
          <p:nvPr/>
        </p:nvSpPr>
        <p:spPr>
          <a:xfrm>
            <a:off x="2141275" y="4156050"/>
            <a:ext cx="14943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Operation</a:t>
            </a:r>
            <a:endParaRPr sz="24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f8b8a7253f_0_79"/>
          <p:cNvSpPr/>
          <p:nvPr/>
        </p:nvSpPr>
        <p:spPr>
          <a:xfrm>
            <a:off x="6700125" y="3127600"/>
            <a:ext cx="907800" cy="503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f8b8a7253f_0_1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9</a:t>
            </a:fld>
            <a:endParaRPr/>
          </a:p>
        </p:txBody>
      </p:sp>
      <p:pic>
        <p:nvPicPr>
          <p:cNvPr id="194" name="Google Shape;194;gf8b8a7253f_0_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1075" y="108550"/>
            <a:ext cx="9990151" cy="565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f8b8a7253f_0_9"/>
          <p:cNvSpPr txBox="1">
            <a:spLocks noGrp="1"/>
          </p:cNvSpPr>
          <p:nvPr>
            <p:ph type="title"/>
          </p:nvPr>
        </p:nvSpPr>
        <p:spPr>
          <a:xfrm>
            <a:off x="838200" y="1745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Tools</a:t>
            </a:r>
            <a:endParaRPr/>
          </a:p>
        </p:txBody>
      </p:sp>
      <p:grpSp>
        <p:nvGrpSpPr>
          <p:cNvPr id="200" name="Google Shape;200;gf8b8a7253f_0_9"/>
          <p:cNvGrpSpPr/>
          <p:nvPr/>
        </p:nvGrpSpPr>
        <p:grpSpPr>
          <a:xfrm>
            <a:off x="1079105" y="3056884"/>
            <a:ext cx="9881831" cy="2168972"/>
            <a:chOff x="0" y="1170922"/>
            <a:chExt cx="6686400" cy="2168972"/>
          </a:xfrm>
        </p:grpSpPr>
        <p:sp>
          <p:nvSpPr>
            <p:cNvPr id="201" name="Google Shape;201;gf8b8a7253f_0_9"/>
            <p:cNvSpPr/>
            <p:nvPr/>
          </p:nvSpPr>
          <p:spPr>
            <a:xfrm>
              <a:off x="0" y="1170922"/>
              <a:ext cx="6686400" cy="10629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gf8b8a7253f_0_9"/>
            <p:cNvSpPr/>
            <p:nvPr/>
          </p:nvSpPr>
          <p:spPr>
            <a:xfrm>
              <a:off x="0" y="2276994"/>
              <a:ext cx="6686400" cy="10629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gf8b8a7253f_0_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08/10/2020</a:t>
            </a:r>
            <a:endParaRPr/>
          </a:p>
        </p:txBody>
      </p:sp>
      <p:sp>
        <p:nvSpPr>
          <p:cNvPr id="204" name="Google Shape;204;gf8b8a7253f_0_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Proyecto Integrador 1</a:t>
            </a:r>
            <a:endParaRPr/>
          </a:p>
        </p:txBody>
      </p:sp>
      <p:sp>
        <p:nvSpPr>
          <p:cNvPr id="205" name="Google Shape;205;gf8b8a7253f_0_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MX"/>
              <a:t>10</a:t>
            </a:fld>
            <a:endParaRPr/>
          </a:p>
        </p:txBody>
      </p:sp>
      <p:sp>
        <p:nvSpPr>
          <p:cNvPr id="206" name="Google Shape;206;gf8b8a7253f_0_9"/>
          <p:cNvSpPr txBox="1"/>
          <p:nvPr/>
        </p:nvSpPr>
        <p:spPr>
          <a:xfrm>
            <a:off x="838200" y="1346125"/>
            <a:ext cx="10265400" cy="41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7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3133"/>
              </a:buClr>
              <a:buSzPts val="2500"/>
              <a:buChar char="●"/>
            </a:pPr>
            <a:r>
              <a:rPr lang="es-MX" sz="2500">
                <a:solidFill>
                  <a:srgbClr val="2D3133"/>
                </a:solidFill>
                <a:highlight>
                  <a:srgbClr val="FFFFFF"/>
                </a:highlight>
              </a:rPr>
              <a:t>Jenkins</a:t>
            </a:r>
            <a:endParaRPr sz="2500">
              <a:solidFill>
                <a:srgbClr val="2D3133"/>
              </a:solidFill>
              <a:highlight>
                <a:srgbClr val="FFFFFF"/>
              </a:highlight>
            </a:endParaRPr>
          </a:p>
          <a:p>
            <a:pPr marL="457200" marR="0" lvl="0" indent="-387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3133"/>
              </a:buClr>
              <a:buSzPts val="2500"/>
              <a:buChar char="●"/>
            </a:pPr>
            <a:r>
              <a:rPr lang="es-MX" sz="2500">
                <a:solidFill>
                  <a:srgbClr val="2D3133"/>
                </a:solidFill>
                <a:highlight>
                  <a:srgbClr val="FFFFFF"/>
                </a:highlight>
              </a:rPr>
              <a:t>Docker</a:t>
            </a:r>
            <a:endParaRPr sz="2500">
              <a:solidFill>
                <a:srgbClr val="2D3133"/>
              </a:solidFill>
              <a:highlight>
                <a:srgbClr val="FFFFFF"/>
              </a:highlight>
            </a:endParaRPr>
          </a:p>
          <a:p>
            <a:pPr marL="457200" marR="0" lvl="0" indent="-387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3133"/>
              </a:buClr>
              <a:buSzPts val="2500"/>
              <a:buChar char="●"/>
            </a:pPr>
            <a:r>
              <a:rPr lang="es-MX" sz="2500">
                <a:solidFill>
                  <a:srgbClr val="2D3133"/>
                </a:solidFill>
                <a:highlight>
                  <a:srgbClr val="FFFFFF"/>
                </a:highlight>
              </a:rPr>
              <a:t>AWS</a:t>
            </a:r>
            <a:endParaRPr sz="2500">
              <a:solidFill>
                <a:srgbClr val="2D3133"/>
              </a:solidFill>
              <a:highlight>
                <a:srgbClr val="FFFFFF"/>
              </a:highlight>
            </a:endParaRPr>
          </a:p>
          <a:p>
            <a:pPr marL="457200" marR="0" lvl="0" indent="-387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3133"/>
              </a:buClr>
              <a:buSzPts val="2500"/>
              <a:buChar char="●"/>
            </a:pPr>
            <a:r>
              <a:rPr lang="es-MX" sz="2500">
                <a:solidFill>
                  <a:srgbClr val="2D3133"/>
                </a:solidFill>
                <a:highlight>
                  <a:srgbClr val="FFFFFF"/>
                </a:highlight>
              </a:rPr>
              <a:t>Azure DevOps</a:t>
            </a:r>
            <a:endParaRPr sz="2500">
              <a:solidFill>
                <a:srgbClr val="2D3133"/>
              </a:solidFill>
              <a:highlight>
                <a:srgbClr val="FFFFFF"/>
              </a:highlight>
            </a:endParaRPr>
          </a:p>
          <a:p>
            <a:pPr marL="457200" marR="0" lvl="0" indent="-387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3133"/>
              </a:buClr>
              <a:buSzPts val="2500"/>
              <a:buChar char="●"/>
            </a:pPr>
            <a:r>
              <a:rPr lang="es-MX" sz="2500">
                <a:solidFill>
                  <a:srgbClr val="2D3133"/>
                </a:solidFill>
                <a:highlight>
                  <a:srgbClr val="FFFFFF"/>
                </a:highlight>
              </a:rPr>
              <a:t>GitLab</a:t>
            </a:r>
            <a:endParaRPr sz="2500">
              <a:solidFill>
                <a:srgbClr val="2D3133"/>
              </a:solidFill>
              <a:highlight>
                <a:srgbClr val="FFFFFF"/>
              </a:highlight>
            </a:endParaRPr>
          </a:p>
          <a:p>
            <a:pPr marL="457200" marR="0" lvl="0" indent="-387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3133"/>
              </a:buClr>
              <a:buSzPts val="2500"/>
              <a:buChar char="●"/>
            </a:pPr>
            <a:r>
              <a:rPr lang="es-MX" sz="2500">
                <a:solidFill>
                  <a:srgbClr val="2D3133"/>
                </a:solidFill>
                <a:highlight>
                  <a:srgbClr val="FFFFFF"/>
                </a:highlight>
              </a:rPr>
              <a:t>Travis CI</a:t>
            </a:r>
            <a:endParaRPr sz="2500">
              <a:solidFill>
                <a:srgbClr val="2D3133"/>
              </a:solidFill>
              <a:highlight>
                <a:srgbClr val="FFFFFF"/>
              </a:highlight>
            </a:endParaRPr>
          </a:p>
          <a:p>
            <a:pPr marL="457200" marR="0" lvl="0" indent="-387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3133"/>
              </a:buClr>
              <a:buSzPts val="2500"/>
              <a:buChar char="●"/>
            </a:pPr>
            <a:r>
              <a:rPr lang="es-MX" sz="2500">
                <a:solidFill>
                  <a:srgbClr val="2D3133"/>
                </a:solidFill>
                <a:highlight>
                  <a:srgbClr val="FFFFFF"/>
                </a:highlight>
              </a:rPr>
              <a:t>Bamboo</a:t>
            </a:r>
            <a:endParaRPr sz="2500">
              <a:solidFill>
                <a:srgbClr val="2D3133"/>
              </a:solidFill>
              <a:highlight>
                <a:srgbClr val="FFFFFF"/>
              </a:highlight>
            </a:endParaRPr>
          </a:p>
        </p:txBody>
      </p:sp>
      <p:pic>
        <p:nvPicPr>
          <p:cNvPr id="207" name="Google Shape;207;gf8b8a7253f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8600" y="1122701"/>
            <a:ext cx="7478976" cy="439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f8b8a7253f_0_105"/>
          <p:cNvSpPr txBox="1">
            <a:spLocks noGrp="1"/>
          </p:cNvSpPr>
          <p:nvPr>
            <p:ph type="title"/>
          </p:nvPr>
        </p:nvSpPr>
        <p:spPr>
          <a:xfrm>
            <a:off x="838200" y="1745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 dirty="0"/>
              <a:t>Tools - </a:t>
            </a:r>
            <a:r>
              <a:rPr lang="es-MX" dirty="0" err="1"/>
              <a:t>AzureDevOps</a:t>
            </a:r>
            <a:endParaRPr dirty="0"/>
          </a:p>
        </p:txBody>
      </p:sp>
      <p:sp>
        <p:nvSpPr>
          <p:cNvPr id="213" name="Google Shape;213;gf8b8a7253f_0_10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08/10/2020</a:t>
            </a:r>
            <a:endParaRPr/>
          </a:p>
        </p:txBody>
      </p:sp>
      <p:sp>
        <p:nvSpPr>
          <p:cNvPr id="214" name="Google Shape;214;gf8b8a7253f_0_10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Proyecto Integrador 1</a:t>
            </a:r>
            <a:endParaRPr/>
          </a:p>
        </p:txBody>
      </p:sp>
      <p:sp>
        <p:nvSpPr>
          <p:cNvPr id="215" name="Google Shape;215;gf8b8a7253f_0_10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MX"/>
              <a:t>11</a:t>
            </a:fld>
            <a:endParaRPr/>
          </a:p>
        </p:txBody>
      </p:sp>
      <p:pic>
        <p:nvPicPr>
          <p:cNvPr id="216" name="Google Shape;216;gf8b8a7253f_0_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7650" y="1761152"/>
            <a:ext cx="5676900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f8b8a7253f_0_105"/>
          <p:cNvSpPr txBox="1">
            <a:spLocks noGrp="1"/>
          </p:cNvSpPr>
          <p:nvPr>
            <p:ph type="title"/>
          </p:nvPr>
        </p:nvSpPr>
        <p:spPr>
          <a:xfrm>
            <a:off x="838200" y="1745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 dirty="0"/>
              <a:t>Tools – AWS</a:t>
            </a:r>
          </a:p>
        </p:txBody>
      </p:sp>
      <p:sp>
        <p:nvSpPr>
          <p:cNvPr id="213" name="Google Shape;213;gf8b8a7253f_0_10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08/10/2020</a:t>
            </a:r>
            <a:endParaRPr/>
          </a:p>
        </p:txBody>
      </p:sp>
      <p:sp>
        <p:nvSpPr>
          <p:cNvPr id="214" name="Google Shape;214;gf8b8a7253f_0_10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Proyecto Integrador 1</a:t>
            </a:r>
            <a:endParaRPr/>
          </a:p>
        </p:txBody>
      </p:sp>
      <p:sp>
        <p:nvSpPr>
          <p:cNvPr id="215" name="Google Shape;215;gf8b8a7253f_0_10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MX"/>
              <a:t>12</a:t>
            </a:fld>
            <a:endParaRPr/>
          </a:p>
        </p:txBody>
      </p:sp>
      <p:sp>
        <p:nvSpPr>
          <p:cNvPr id="7" name="Google Shape;172;ga0395a7b3a_1_77">
            <a:extLst>
              <a:ext uri="{FF2B5EF4-FFF2-40B4-BE49-F238E27FC236}">
                <a16:creationId xmlns:a16="http://schemas.microsoft.com/office/drawing/2014/main" id="{F266B851-44BC-4E75-A0B1-85F78396DC1D}"/>
              </a:ext>
            </a:extLst>
          </p:cNvPr>
          <p:cNvSpPr txBox="1"/>
          <p:nvPr/>
        </p:nvSpPr>
        <p:spPr>
          <a:xfrm>
            <a:off x="838200" y="1269450"/>
            <a:ext cx="10265400" cy="4279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 algn="just">
              <a:buClr>
                <a:srgbClr val="2D3133"/>
              </a:buClr>
              <a:buSzPts val="2500"/>
              <a:buChar char="•"/>
            </a:pP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Cloud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computing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platform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to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develop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and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operate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web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services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.</a:t>
            </a:r>
            <a:endParaRPr lang="es-MX" dirty="0"/>
          </a:p>
          <a:p>
            <a:pPr marL="342900" indent="-342900" algn="just">
              <a:buClr>
                <a:srgbClr val="2D3133"/>
              </a:buClr>
              <a:buSzPts val="2500"/>
              <a:buChar char="•"/>
            </a:pPr>
            <a:endParaRPr lang="es-MX" sz="2500" dirty="0">
              <a:solidFill>
                <a:srgbClr val="2D3133"/>
              </a:solidFill>
              <a:highlight>
                <a:srgbClr val="FFFFFF"/>
              </a:highlight>
            </a:endParaRPr>
          </a:p>
          <a:p>
            <a:pPr marL="342900" indent="-342900" algn="just">
              <a:buClr>
                <a:srgbClr val="2D3133"/>
              </a:buClr>
              <a:buSzPts val="2500"/>
              <a:buChar char="•"/>
            </a:pP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Some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of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the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products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are: virtual machines, web hosting, file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storage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, data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processing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,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management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tools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. </a:t>
            </a:r>
            <a:endParaRPr lang="es-MX"/>
          </a:p>
          <a:p>
            <a:pPr marL="342900" indent="-342900" algn="just">
              <a:buClr>
                <a:srgbClr val="2D3133"/>
              </a:buClr>
              <a:buSzPts val="2500"/>
              <a:buChar char="•"/>
            </a:pPr>
            <a:endParaRPr lang="es-MX" sz="2500" dirty="0">
              <a:solidFill>
                <a:srgbClr val="2D3133"/>
              </a:solidFill>
              <a:highlight>
                <a:srgbClr val="FFFFFF"/>
              </a:highlight>
            </a:endParaRPr>
          </a:p>
          <a:p>
            <a:pPr marL="342900" indent="-342900" algn="just">
              <a:buClr>
                <a:srgbClr val="2D3133"/>
              </a:buClr>
              <a:buSzPts val="2500"/>
              <a:buChar char="•"/>
            </a:pP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A virtual machine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is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a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computer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emulated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on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</a:t>
            </a:r>
            <a:r>
              <a:rPr lang="es-MX" sz="2500" dirty="0" err="1">
                <a:solidFill>
                  <a:srgbClr val="2D3133"/>
                </a:solidFill>
                <a:highlight>
                  <a:srgbClr val="FFFFFF"/>
                </a:highlight>
              </a:rPr>
              <a:t>another</a:t>
            </a:r>
            <a:r>
              <a:rPr lang="es-MX" sz="2500" dirty="0">
                <a:solidFill>
                  <a:srgbClr val="2D3133"/>
                </a:solidFill>
                <a:highlight>
                  <a:srgbClr val="FFFFFF"/>
                </a:highlight>
              </a:rPr>
              <a:t> machine.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360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f8b8a7253f_0_98"/>
          <p:cNvSpPr txBox="1">
            <a:spLocks noGrp="1"/>
          </p:cNvSpPr>
          <p:nvPr>
            <p:ph type="title"/>
          </p:nvPr>
        </p:nvSpPr>
        <p:spPr>
          <a:xfrm>
            <a:off x="4325649" y="2255125"/>
            <a:ext cx="354253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Questions ???</a:t>
            </a:r>
            <a:endParaRPr/>
          </a:p>
        </p:txBody>
      </p:sp>
      <p:sp>
        <p:nvSpPr>
          <p:cNvPr id="223" name="Google Shape;223;gf8b8a7253f_0_9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13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ntilla_para_las_presentaciones_PowerPoint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1cc545f-0119-4587-9246-f4ee99f75de8" xsi:nil="true"/>
    <lcf76f155ced4ddcb4097134ff3c332f xmlns="bedae199-5ea8-4b5b-9d83-1ad6dafdf09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1C20D3AAAD0540BF8FDA248A016134" ma:contentTypeVersion="18" ma:contentTypeDescription="Crear nuevo documento." ma:contentTypeScope="" ma:versionID="ad7e0d56806140fcd4b16c8f0ec3bc51">
  <xsd:schema xmlns:xsd="http://www.w3.org/2001/XMLSchema" xmlns:xs="http://www.w3.org/2001/XMLSchema" xmlns:p="http://schemas.microsoft.com/office/2006/metadata/properties" xmlns:ns2="bedae199-5ea8-4b5b-9d83-1ad6dafdf099" xmlns:ns3="f1cc545f-0119-4587-9246-f4ee99f75de8" targetNamespace="http://schemas.microsoft.com/office/2006/metadata/properties" ma:root="true" ma:fieldsID="31d388cbe318584a4b01eda6b28ca5c0" ns2:_="" ns3:_="">
    <xsd:import namespace="bedae199-5ea8-4b5b-9d83-1ad6dafdf099"/>
    <xsd:import namespace="f1cc545f-0119-4587-9246-f4ee99f75d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dae199-5ea8-4b5b-9d83-1ad6dafdf0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0aef40d5-b715-412d-bec7-270c581220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cc545f-0119-4587-9246-f4ee99f75de8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adb45ffb-4461-46a5-9853-64b070f5d3fc}" ma:internalName="TaxCatchAll" ma:showField="CatchAllData" ma:web="f1cc545f-0119-4587-9246-f4ee99f75d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B8F8F86-056F-46CB-AE37-A79ECFA87B34}">
  <ds:schemaRefs>
    <ds:schemaRef ds:uri="http://schemas.microsoft.com/office/2006/metadata/properties"/>
    <ds:schemaRef ds:uri="http://schemas.microsoft.com/office/infopath/2007/PartnerControls"/>
    <ds:schemaRef ds:uri="f1cc545f-0119-4587-9246-f4ee99f75de8"/>
    <ds:schemaRef ds:uri="bedae199-5ea8-4b5b-9d83-1ad6dafdf099"/>
  </ds:schemaRefs>
</ds:datastoreItem>
</file>

<file path=customXml/itemProps2.xml><?xml version="1.0" encoding="utf-8"?>
<ds:datastoreItem xmlns:ds="http://schemas.openxmlformats.org/officeDocument/2006/customXml" ds:itemID="{B6F86270-D043-464C-A7BC-D8FFAB69CF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39C9A6-1E53-4A7E-BAB1-909F2E64D4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dae199-5ea8-4b5b-9d83-1ad6dafdf099"/>
    <ds:schemaRef ds:uri="f1cc545f-0119-4587-9246-f4ee99f75d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</Words>
  <Application>Microsoft Office PowerPoint</Application>
  <PresentationFormat>Grand écran</PresentationFormat>
  <Paragraphs>91</Paragraphs>
  <Slides>13</Slides>
  <Notes>13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4" baseType="lpstr">
      <vt:lpstr>plantilla_para_las_presentaciones_PowerPoint</vt:lpstr>
      <vt:lpstr>Software Deployment  By Raúl Mazo Paola Vallejo  </vt:lpstr>
      <vt:lpstr>Systems Development Life Cycle (SDLC)</vt:lpstr>
      <vt:lpstr>Software Deployment</vt:lpstr>
      <vt:lpstr>Deployment stages</vt:lpstr>
      <vt:lpstr>Systems Development Life Cycle (SDLC)</vt:lpstr>
      <vt:lpstr>Deployment stages</vt:lpstr>
      <vt:lpstr>Best deployment practices</vt:lpstr>
      <vt:lpstr>Systems Development Life Cycle (SDLC)</vt:lpstr>
      <vt:lpstr>Présentation PowerPoint</vt:lpstr>
      <vt:lpstr>Tools</vt:lpstr>
      <vt:lpstr>Tools - AzureDevOps</vt:lpstr>
      <vt:lpstr>Tools – AWS</vt:lpstr>
      <vt:lpstr>Questions ???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Deployment  By Raúl Mazo Paola Vallejo  </dc:title>
  <dc:creator>LUIS FERNANDO LONDOÑO LONDOÑO</dc:creator>
  <cp:lastModifiedBy>Paola Andrea Vallejo Correa</cp:lastModifiedBy>
  <cp:revision>9</cp:revision>
  <dcterms:created xsi:type="dcterms:W3CDTF">2016-07-26T13:31:31Z</dcterms:created>
  <dcterms:modified xsi:type="dcterms:W3CDTF">2025-05-06T18:16:52Z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0x010100CD1C20D3AAAD0540BF8FDA248A016134</vt:lpwstr>
  </property>
  <property fmtid="{D5CDD505-2E9C-101B-9397-08002B2CF9AE}" pid="3" name="MediaServiceImageTags">
    <vt:lpwstr/>
  </property>
</Properties>
</file>